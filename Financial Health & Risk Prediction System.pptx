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nthuran6370@outlook.com" userId="9ac8ce845672977e" providerId="LiveId" clId="{9E01A7A0-B4BC-4FDC-887C-C9A3C42D9A24}"/>
    <pc:docChg chg="undo custSel delSld modSld sldOrd">
      <pc:chgData name="senthuran6370@outlook.com" userId="9ac8ce845672977e" providerId="LiveId" clId="{9E01A7A0-B4BC-4FDC-887C-C9A3C42D9A24}" dt="2026-05-24T06:05:46.274" v="766" actId="115"/>
      <pc:docMkLst>
        <pc:docMk/>
      </pc:docMkLst>
      <pc:sldChg chg="addSp modSp mod">
        <pc:chgData name="senthuran6370@outlook.com" userId="9ac8ce845672977e" providerId="LiveId" clId="{9E01A7A0-B4BC-4FDC-887C-C9A3C42D9A24}" dt="2026-05-24T05:27:02.514" v="542" actId="1076"/>
        <pc:sldMkLst>
          <pc:docMk/>
          <pc:sldMk cId="218184657" sldId="256"/>
        </pc:sldMkLst>
        <pc:spChg chg="add">
          <ac:chgData name="senthuran6370@outlook.com" userId="9ac8ce845672977e" providerId="LiveId" clId="{9E01A7A0-B4BC-4FDC-887C-C9A3C42D9A24}" dt="2026-05-24T05:21:51.898" v="404"/>
          <ac:spMkLst>
            <pc:docMk/>
            <pc:sldMk cId="218184657" sldId="256"/>
            <ac:spMk id="2" creationId="{BF640D14-BF17-6E5D-47FD-ED25A02D657A}"/>
          </ac:spMkLst>
        </pc:spChg>
        <pc:spChg chg="add">
          <ac:chgData name="senthuran6370@outlook.com" userId="9ac8ce845672977e" providerId="LiveId" clId="{9E01A7A0-B4BC-4FDC-887C-C9A3C42D9A24}" dt="2026-05-24T05:21:54.744" v="405"/>
          <ac:spMkLst>
            <pc:docMk/>
            <pc:sldMk cId="218184657" sldId="256"/>
            <ac:spMk id="3" creationId="{68DCE93A-0421-B6EC-6E6F-1B61578A23B3}"/>
          </ac:spMkLst>
        </pc:spChg>
        <pc:spChg chg="mod">
          <ac:chgData name="senthuran6370@outlook.com" userId="9ac8ce845672977e" providerId="LiveId" clId="{9E01A7A0-B4BC-4FDC-887C-C9A3C42D9A24}" dt="2026-05-24T05:20:43.942" v="365" actId="14100"/>
          <ac:spMkLst>
            <pc:docMk/>
            <pc:sldMk cId="218184657" sldId="256"/>
            <ac:spMk id="4" creationId="{B10B3EA3-559F-087F-96B6-F6372516942B}"/>
          </ac:spMkLst>
        </pc:spChg>
        <pc:spChg chg="mod">
          <ac:chgData name="senthuran6370@outlook.com" userId="9ac8ce845672977e" providerId="LiveId" clId="{9E01A7A0-B4BC-4FDC-887C-C9A3C42D9A24}" dt="2026-05-24T05:27:02.514" v="542" actId="1076"/>
          <ac:spMkLst>
            <pc:docMk/>
            <pc:sldMk cId="218184657" sldId="256"/>
            <ac:spMk id="5" creationId="{A3D4046F-AEE5-0046-2D13-19D34E422125}"/>
          </ac:spMkLst>
        </pc:spChg>
        <pc:spChg chg="add">
          <ac:chgData name="senthuran6370@outlook.com" userId="9ac8ce845672977e" providerId="LiveId" clId="{9E01A7A0-B4BC-4FDC-887C-C9A3C42D9A24}" dt="2026-05-24T05:22:08.133" v="407"/>
          <ac:spMkLst>
            <pc:docMk/>
            <pc:sldMk cId="218184657" sldId="256"/>
            <ac:spMk id="6" creationId="{1690130C-6EFB-5A43-9A95-91B491D9BCE9}"/>
          </ac:spMkLst>
        </pc:spChg>
        <pc:spChg chg="add">
          <ac:chgData name="senthuran6370@outlook.com" userId="9ac8ce845672977e" providerId="LiveId" clId="{9E01A7A0-B4BC-4FDC-887C-C9A3C42D9A24}" dt="2026-05-24T05:22:18.791" v="411"/>
          <ac:spMkLst>
            <pc:docMk/>
            <pc:sldMk cId="218184657" sldId="256"/>
            <ac:spMk id="7" creationId="{89838288-622C-24F1-EB02-04E86854E294}"/>
          </ac:spMkLst>
        </pc:spChg>
      </pc:sldChg>
      <pc:sldChg chg="addSp delSp modSp mod">
        <pc:chgData name="senthuran6370@outlook.com" userId="9ac8ce845672977e" providerId="LiveId" clId="{9E01A7A0-B4BC-4FDC-887C-C9A3C42D9A24}" dt="2026-05-24T05:55:51.856" v="639" actId="14734"/>
        <pc:sldMkLst>
          <pc:docMk/>
          <pc:sldMk cId="3604143639" sldId="257"/>
        </pc:sldMkLst>
        <pc:spChg chg="mod">
          <ac:chgData name="senthuran6370@outlook.com" userId="9ac8ce845672977e" providerId="LiveId" clId="{9E01A7A0-B4BC-4FDC-887C-C9A3C42D9A24}" dt="2026-05-24T05:25:59.245" v="532" actId="2711"/>
          <ac:spMkLst>
            <pc:docMk/>
            <pc:sldMk cId="3604143639" sldId="257"/>
            <ac:spMk id="2" creationId="{10E89A20-703C-71F6-BCFD-AA2006CA7286}"/>
          </ac:spMkLst>
        </pc:spChg>
        <pc:spChg chg="mod">
          <ac:chgData name="senthuran6370@outlook.com" userId="9ac8ce845672977e" providerId="LiveId" clId="{9E01A7A0-B4BC-4FDC-887C-C9A3C42D9A24}" dt="2026-05-24T05:27:48.403" v="552" actId="14100"/>
          <ac:spMkLst>
            <pc:docMk/>
            <pc:sldMk cId="3604143639" sldId="257"/>
            <ac:spMk id="3" creationId="{E8962A58-04BB-C985-F3A4-C87BD15EC0CC}"/>
          </ac:spMkLst>
        </pc:spChg>
        <pc:spChg chg="del mod">
          <ac:chgData name="senthuran6370@outlook.com" userId="9ac8ce845672977e" providerId="LiveId" clId="{9E01A7A0-B4BC-4FDC-887C-C9A3C42D9A24}" dt="2026-05-24T05:29:01.436" v="564" actId="478"/>
          <ac:spMkLst>
            <pc:docMk/>
            <pc:sldMk cId="3604143639" sldId="257"/>
            <ac:spMk id="4" creationId="{82408784-5AE8-F102-00A5-9138D1FF7B8C}"/>
          </ac:spMkLst>
        </pc:spChg>
        <pc:spChg chg="add mod">
          <ac:chgData name="senthuran6370@outlook.com" userId="9ac8ce845672977e" providerId="LiveId" clId="{9E01A7A0-B4BC-4FDC-887C-C9A3C42D9A24}" dt="2026-05-24T05:33:27.840" v="636" actId="1076"/>
          <ac:spMkLst>
            <pc:docMk/>
            <pc:sldMk cId="3604143639" sldId="257"/>
            <ac:spMk id="6" creationId="{658B34F8-DBD6-B0E0-3E41-55136E7962CA}"/>
          </ac:spMkLst>
        </pc:spChg>
        <pc:spChg chg="add del mod">
          <ac:chgData name="senthuran6370@outlook.com" userId="9ac8ce845672977e" providerId="LiveId" clId="{9E01A7A0-B4BC-4FDC-887C-C9A3C42D9A24}" dt="2026-05-24T05:29:38.787" v="568" actId="3680"/>
          <ac:spMkLst>
            <pc:docMk/>
            <pc:sldMk cId="3604143639" sldId="257"/>
            <ac:spMk id="9" creationId="{2A098A52-BDEA-FA0C-2E67-3905DF478A73}"/>
          </ac:spMkLst>
        </pc:spChg>
        <pc:graphicFrameChg chg="add mod">
          <ac:chgData name="senthuran6370@outlook.com" userId="9ac8ce845672977e" providerId="LiveId" clId="{9E01A7A0-B4BC-4FDC-887C-C9A3C42D9A24}" dt="2026-05-24T05:28:32.377" v="560"/>
          <ac:graphicFrameMkLst>
            <pc:docMk/>
            <pc:sldMk cId="3604143639" sldId="257"/>
            <ac:graphicFrameMk id="5" creationId="{B4093A49-96FB-E381-EEDE-775558D646C2}"/>
          </ac:graphicFrameMkLst>
        </pc:graphicFrameChg>
        <pc:graphicFrameChg chg="add mod">
          <ac:chgData name="senthuran6370@outlook.com" userId="9ac8ce845672977e" providerId="LiveId" clId="{9E01A7A0-B4BC-4FDC-887C-C9A3C42D9A24}" dt="2026-05-24T05:28:39.823" v="562" actId="1076"/>
          <ac:graphicFrameMkLst>
            <pc:docMk/>
            <pc:sldMk cId="3604143639" sldId="257"/>
            <ac:graphicFrameMk id="7" creationId="{4C4204CF-DA35-2DE8-3217-5319F12C9CE0}"/>
          </ac:graphicFrameMkLst>
        </pc:graphicFrameChg>
        <pc:graphicFrameChg chg="add mod ord modGraphic">
          <ac:chgData name="senthuran6370@outlook.com" userId="9ac8ce845672977e" providerId="LiveId" clId="{9E01A7A0-B4BC-4FDC-887C-C9A3C42D9A24}" dt="2026-05-24T05:55:51.856" v="639" actId="14734"/>
          <ac:graphicFrameMkLst>
            <pc:docMk/>
            <pc:sldMk cId="3604143639" sldId="257"/>
            <ac:graphicFrameMk id="10" creationId="{5CEAC4B5-8672-67E7-9A45-6CB6890F1755}"/>
          </ac:graphicFrameMkLst>
        </pc:graphicFrameChg>
      </pc:sldChg>
      <pc:sldChg chg="addSp modSp mod">
        <pc:chgData name="senthuran6370@outlook.com" userId="9ac8ce845672977e" providerId="LiveId" clId="{9E01A7A0-B4BC-4FDC-887C-C9A3C42D9A24}" dt="2026-05-24T06:02:57.976" v="731" actId="14100"/>
        <pc:sldMkLst>
          <pc:docMk/>
          <pc:sldMk cId="355816453" sldId="258"/>
        </pc:sldMkLst>
        <pc:spChg chg="mod">
          <ac:chgData name="senthuran6370@outlook.com" userId="9ac8ce845672977e" providerId="LiveId" clId="{9E01A7A0-B4BC-4FDC-887C-C9A3C42D9A24}" dt="2026-05-24T06:02:14.793" v="723" actId="404"/>
          <ac:spMkLst>
            <pc:docMk/>
            <pc:sldMk cId="355816453" sldId="258"/>
            <ac:spMk id="2" creationId="{E353C4ED-F0E8-8D3F-F0A8-9665B14928F8}"/>
          </ac:spMkLst>
        </pc:spChg>
        <pc:spChg chg="mod">
          <ac:chgData name="senthuran6370@outlook.com" userId="9ac8ce845672977e" providerId="LiveId" clId="{9E01A7A0-B4BC-4FDC-887C-C9A3C42D9A24}" dt="2026-05-24T06:02:57.976" v="731" actId="14100"/>
          <ac:spMkLst>
            <pc:docMk/>
            <pc:sldMk cId="355816453" sldId="258"/>
            <ac:spMk id="3" creationId="{5E9C46B2-E10F-EEAB-F840-ADB62B2BFD89}"/>
          </ac:spMkLst>
        </pc:spChg>
        <pc:spChg chg="add">
          <ac:chgData name="senthuran6370@outlook.com" userId="9ac8ce845672977e" providerId="LiveId" clId="{9E01A7A0-B4BC-4FDC-887C-C9A3C42D9A24}" dt="2026-05-24T05:58:03.174" v="644"/>
          <ac:spMkLst>
            <pc:docMk/>
            <pc:sldMk cId="355816453" sldId="258"/>
            <ac:spMk id="4" creationId="{8E75AF1B-E200-B2D6-14B8-8F213D4CD550}"/>
          </ac:spMkLst>
        </pc:spChg>
        <pc:spChg chg="add">
          <ac:chgData name="senthuran6370@outlook.com" userId="9ac8ce845672977e" providerId="LiveId" clId="{9E01A7A0-B4BC-4FDC-887C-C9A3C42D9A24}" dt="2026-05-24T05:58:08.995" v="646"/>
          <ac:spMkLst>
            <pc:docMk/>
            <pc:sldMk cId="355816453" sldId="258"/>
            <ac:spMk id="5" creationId="{A7421DC5-3EFB-E0A2-3A09-DC3F234C6B91}"/>
          </ac:spMkLst>
        </pc:spChg>
        <pc:graphicFrameChg chg="mod modGraphic">
          <ac:chgData name="senthuran6370@outlook.com" userId="9ac8ce845672977e" providerId="LiveId" clId="{9E01A7A0-B4BC-4FDC-887C-C9A3C42D9A24}" dt="2026-05-24T06:02:40.990" v="729" actId="1076"/>
          <ac:graphicFrameMkLst>
            <pc:docMk/>
            <pc:sldMk cId="355816453" sldId="258"/>
            <ac:graphicFrameMk id="10" creationId="{7FF599D3-E763-5375-B988-404C1D795082}"/>
          </ac:graphicFrameMkLst>
        </pc:graphicFrameChg>
      </pc:sldChg>
      <pc:sldChg chg="modSp mod ord">
        <pc:chgData name="senthuran6370@outlook.com" userId="9ac8ce845672977e" providerId="LiveId" clId="{9E01A7A0-B4BC-4FDC-887C-C9A3C42D9A24}" dt="2026-05-24T06:05:46.274" v="766" actId="115"/>
        <pc:sldMkLst>
          <pc:docMk/>
          <pc:sldMk cId="100801296" sldId="259"/>
        </pc:sldMkLst>
        <pc:spChg chg="mod">
          <ac:chgData name="senthuran6370@outlook.com" userId="9ac8ce845672977e" providerId="LiveId" clId="{9E01A7A0-B4BC-4FDC-887C-C9A3C42D9A24}" dt="2026-05-24T06:03:33.999" v="736" actId="27636"/>
          <ac:spMkLst>
            <pc:docMk/>
            <pc:sldMk cId="100801296" sldId="259"/>
            <ac:spMk id="2" creationId="{D452A37A-788E-E157-F585-6D76B47B3BC9}"/>
          </ac:spMkLst>
        </pc:spChg>
        <pc:spChg chg="mod">
          <ac:chgData name="senthuran6370@outlook.com" userId="9ac8ce845672977e" providerId="LiveId" clId="{9E01A7A0-B4BC-4FDC-887C-C9A3C42D9A24}" dt="2026-05-24T06:05:46.274" v="766" actId="115"/>
          <ac:spMkLst>
            <pc:docMk/>
            <pc:sldMk cId="100801296" sldId="259"/>
            <ac:spMk id="3" creationId="{A69D50D2-82DC-D872-9199-2983FA8EB243}"/>
          </ac:spMkLst>
        </pc:spChg>
      </pc:sldChg>
      <pc:sldChg chg="addSp delSp modSp del mod modClrScheme modAnim chgLayout">
        <pc:chgData name="senthuran6370@outlook.com" userId="9ac8ce845672977e" providerId="LiveId" clId="{9E01A7A0-B4BC-4FDC-887C-C9A3C42D9A24}" dt="2026-05-24T06:05:11.117" v="762" actId="47"/>
        <pc:sldMkLst>
          <pc:docMk/>
          <pc:sldMk cId="3902256144" sldId="260"/>
        </pc:sldMkLst>
      </pc:sldChg>
      <pc:sldChg chg="modSp del mod">
        <pc:chgData name="senthuran6370@outlook.com" userId="9ac8ce845672977e" providerId="LiveId" clId="{9E01A7A0-B4BC-4FDC-887C-C9A3C42D9A24}" dt="2026-05-24T06:05:10.368" v="761" actId="47"/>
        <pc:sldMkLst>
          <pc:docMk/>
          <pc:sldMk cId="1475290606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2B783-FA71-E449-2CAE-E71FA8DAD0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601E17-CF96-4C79-CD86-84771B3879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BC453-F7C3-1553-0149-4A98A8326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072EF-DBE0-49EE-B119-C3A36C735646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BBE38-005E-90DD-54DB-8C141FA4D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C8C85-E6B3-C0EE-70A7-A6267C35B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AC10E-BF0B-4BF3-881F-F05014FB2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434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8BE34-2EE7-AB70-2C58-F85828AD6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196BB-9AFD-76D9-20D5-473EB18B5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D8A41-4E31-3B8C-1349-06E607AF9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072EF-DBE0-49EE-B119-C3A36C735646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1BFC6-6406-67FF-13A6-12D350EC8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B15F7-0F30-5473-A8C2-B16CC0732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AC10E-BF0B-4BF3-881F-F05014FB2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858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A6FC0-22AD-8E4E-7E1F-5207AA884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C5C292-5FEE-A615-9ADB-B91B23DDAF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052CF-C2FD-F57C-7DB1-EF254F227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072EF-DBE0-49EE-B119-C3A36C735646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5E894-49DB-D781-95DA-C0CFE250A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FA563-B563-6C1A-91F5-DBB4F8AC4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AC10E-BF0B-4BF3-881F-F05014FB2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714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400AA-8DA0-AD31-8B44-13A40854C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9D313-DDD0-58D0-C242-545693A981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DD2C67-9863-FD9B-FCDC-32FA9E3D32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000C54-7154-E5F8-A93D-52902BAE4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072EF-DBE0-49EE-B119-C3A36C735646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4F87D4-6DDC-FDCB-5241-C26808E94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F9C943-CA8F-FAED-8B1D-E02D02194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AC10E-BF0B-4BF3-881F-F05014FB2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867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141E5-CEE8-5DA7-A413-690757F10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74ED61-50EB-8207-A8CE-10D11558D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99DBEA-627C-C543-82F1-A3FD4B360C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18963C-E752-F1CD-386E-E01C7E1F14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87620-BE54-0493-3EF1-8168858407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D6A8B-C703-CCA9-9C96-F587B63E4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072EF-DBE0-49EE-B119-C3A36C735646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B455B9-8301-9048-5B7C-C246D3F05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2EA63E-8449-C057-EE15-DF09440A3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AC10E-BF0B-4BF3-881F-F05014FB2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667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EA97D-92C3-3035-28DF-F23E11979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A13A81-EFB6-C8BD-75DE-2560F0B35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072EF-DBE0-49EE-B119-C3A36C735646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615438-24EC-D965-B62F-E1FF277E6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AF4934-AAE8-9AEA-330D-5B4677BBA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AC10E-BF0B-4BF3-881F-F05014FB2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341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15DB35-D02F-24BC-F844-470FC67F4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072EF-DBE0-49EE-B119-C3A36C735646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5814BB-6660-6488-743D-0C1141AB5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ED3076-A5C0-2D8B-1133-42A3BF985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AC10E-BF0B-4BF3-881F-F05014FB2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821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EF4AC-4947-B49B-6868-9C5246670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324DD-F568-DCD4-875E-1F34E6B15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66E484-1091-055D-8F40-0A32B85FEC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6703ED-17BB-F8E4-C888-6B0F64DE2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072EF-DBE0-49EE-B119-C3A36C735646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0BFFB0-FA74-49F9-F129-79DF83EB1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15FA6-2B8B-19CF-3B2A-79B21163C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AC10E-BF0B-4BF3-881F-F05014FB2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575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69E80-00BC-EEE1-D7A0-AED86D000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EF3B7E-6252-7D40-8F38-5B0F671AE4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3BD542-AD02-637F-F312-C01640FF4F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CE2147-50A4-DF6A-D214-2B896A0FC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072EF-DBE0-49EE-B119-C3A36C735646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71F66C-268E-1D5B-6EBA-5C2D79935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D07C8C-8F3B-A1DC-1795-10F8303EF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AC10E-BF0B-4BF3-881F-F05014FB2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19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A5713-33A3-79A0-361E-C2622BCE8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BE3E75-C95F-8864-160F-2E208ABBDD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12EC5-B8BB-32C8-C8BC-17EE8231B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072EF-DBE0-49EE-B119-C3A36C735646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FBDA6-67D7-223A-483D-0DA8A9664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DEE1D3-0378-F532-8F03-ED5D80028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AC10E-BF0B-4BF3-881F-F05014FB2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169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3E5049-118D-C2A4-567E-D9D789DCB3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975597-229D-163F-EAF1-AF568CA875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E1597-4795-EE30-4F61-067C3F33E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072EF-DBE0-49EE-B119-C3A36C735646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A81DD-B8B6-61E2-0D57-BEAD9E8BB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D4851-A5B6-44D6-AC13-603131640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AC10E-BF0B-4BF3-881F-F05014FB2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782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CD785-2193-C6A6-CA48-CDB7B0805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A41438-91C0-93CC-BE96-D3A587369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4928A-150E-D344-0569-525A2252AC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2072EF-DBE0-49EE-B119-C3A36C735646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573C1-090E-7C24-3195-B625ABE45F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7FA9C-EDB9-6F0E-909D-B8F4DE9319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AC10E-BF0B-4BF3-881F-F05014FB2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607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10B3EA3-559F-087F-96B6-F63725169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314"/>
            <a:ext cx="10515600" cy="733254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+mn-lt"/>
              </a:rPr>
              <a:t>AI-Powered Financial Health &amp; Risk Prediction System</a:t>
            </a:r>
            <a:endParaRPr lang="en-US" sz="2800" b="1" dirty="0">
              <a:latin typeface="+mn-lt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D4046F-AEE5-0046-2D13-19D34E422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7022" y="1229903"/>
            <a:ext cx="9937955" cy="43981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Problem Statement</a:t>
            </a:r>
          </a:p>
          <a:p>
            <a:r>
              <a:rPr lang="en-US" sz="1600" dirty="0"/>
              <a:t>Companies generate huge amounts of financial data, making manual financial risk analysis difficult and time-consuming.</a:t>
            </a:r>
          </a:p>
          <a:p>
            <a:r>
              <a:rPr lang="en-US" sz="1600" dirty="0"/>
              <a:t>Identifying financially risky companies using traditional methods is inefficient and may miss important patterns.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Proposed Solution</a:t>
            </a:r>
          </a:p>
          <a:p>
            <a:r>
              <a:rPr lang="en-US" sz="1600" dirty="0"/>
              <a:t>Developed an AI-based financial analytics system that analyzes company financial data, predicts financial risk levels, calculates financial health scores, and generates intelligent business recommendations using Machine Learning.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Dataset</a:t>
            </a:r>
          </a:p>
          <a:p>
            <a:r>
              <a:rPr lang="en-US" sz="1600" dirty="0"/>
              <a:t>Indian Stock Market Dataset (BSE) — Kaggle</a:t>
            </a:r>
          </a:p>
          <a:p>
            <a:r>
              <a:rPr lang="en-US" sz="1600" dirty="0"/>
              <a:t>Major dataset files used: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600" dirty="0"/>
              <a:t>Balance Sheet, Quarterly results, Cash flow, Company Information, Peer Comparison.</a:t>
            </a:r>
          </a:p>
        </p:txBody>
      </p:sp>
    </p:spTree>
    <p:extLst>
      <p:ext uri="{BB962C8B-B14F-4D97-AF65-F5344CB8AC3E}">
        <p14:creationId xmlns:p14="http://schemas.microsoft.com/office/powerpoint/2010/main" val="218184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89A20-703C-71F6-BCFD-AA2006CA7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209112"/>
            <a:ext cx="10515600" cy="922901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+mn-lt"/>
              </a:rPr>
              <a:t>Data Engineering &amp; 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62A58-04BB-C985-F3A4-C87BD15EC0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7805" y="1424701"/>
            <a:ext cx="9984660" cy="10235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Data Engineering</a:t>
            </a:r>
          </a:p>
          <a:p>
            <a:r>
              <a:rPr lang="en-US" sz="1600" dirty="0"/>
              <a:t>Cleaned missing values, merged multiple financial datasets using </a:t>
            </a:r>
            <a:r>
              <a:rPr lang="en-US" sz="1600" dirty="0" err="1"/>
              <a:t>ScripCode</a:t>
            </a:r>
            <a:r>
              <a:rPr lang="en-US" sz="1600" dirty="0"/>
              <a:t>, renamed columns professionally, and selected important business-related financial features for analytics and prediction.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8B34F8-DBD6-B0E0-3E41-55136E7962CA}"/>
              </a:ext>
            </a:extLst>
          </p:cNvPr>
          <p:cNvSpPr txBox="1"/>
          <p:nvPr/>
        </p:nvSpPr>
        <p:spPr>
          <a:xfrm>
            <a:off x="1007805" y="2740921"/>
            <a:ext cx="27874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Extra Features Added</a:t>
            </a:r>
          </a:p>
          <a:p>
            <a:pPr>
              <a:buNone/>
            </a:pPr>
            <a:endParaRPr lang="en-US" sz="1600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5CEAC4B5-8672-67E7-9A45-6CB6890F175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8909049"/>
              </p:ext>
            </p:extLst>
          </p:nvPr>
        </p:nvGraphicFramePr>
        <p:xfrm flipV="1">
          <a:off x="2401528" y="3325696"/>
          <a:ext cx="628281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212">
                  <a:extLst>
                    <a:ext uri="{9D8B030D-6E8A-4147-A177-3AD203B41FA5}">
                      <a16:colId xmlns:a16="http://schemas.microsoft.com/office/drawing/2014/main" val="1923155035"/>
                    </a:ext>
                  </a:extLst>
                </a:gridCol>
                <a:gridCol w="3463602">
                  <a:extLst>
                    <a:ext uri="{9D8B030D-6E8A-4147-A177-3AD203B41FA5}">
                      <a16:colId xmlns:a16="http://schemas.microsoft.com/office/drawing/2014/main" val="21546796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Features</a:t>
                      </a:r>
                      <a:endParaRPr lang="en-US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Purpose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182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Debt_Ratio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Measures debt dependency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6636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+mn-lt"/>
                        </a:rPr>
                        <a:t>Profit_Margin</a:t>
                      </a:r>
                      <a:endParaRPr lang="en-US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Measures profitability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507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+mn-lt"/>
                        </a:rPr>
                        <a:t>Financial_Health_Score</a:t>
                      </a:r>
                      <a:endParaRPr lang="en-US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Overall financial condition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767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+mn-lt"/>
                        </a:rPr>
                        <a:t>Health_Category</a:t>
                      </a:r>
                      <a:endParaRPr lang="en-US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Healthy / Moderate / Weak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2094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+mn-lt"/>
                        </a:rPr>
                        <a:t>Risk_Level</a:t>
                      </a:r>
                      <a:endParaRPr lang="en-US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High / Medium / Low Risk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651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+mn-lt"/>
                        </a:rPr>
                        <a:t>AI_Recommendation</a:t>
                      </a:r>
                      <a:endParaRPr lang="en-US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Business improvement suggestions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3851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4143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2A37A-788E-E157-F585-6D76B47B3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011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latin typeface="+mn-lt"/>
              </a:rPr>
              <a:t>Financial Logic &amp; AI Intelligence</a:t>
            </a:r>
            <a:endParaRPr lang="en-US" sz="40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D50D2-82DC-D872-9199-2983FA8EB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2658"/>
            <a:ext cx="10515600" cy="39230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Financial Logic Used</a:t>
            </a:r>
          </a:p>
          <a:p>
            <a:pPr marL="0" indent="0">
              <a:buNone/>
            </a:pPr>
            <a:endParaRPr lang="en-US" sz="1600" i="1" dirty="0"/>
          </a:p>
          <a:p>
            <a:pPr marL="0" indent="0">
              <a:buNone/>
            </a:pPr>
            <a:r>
              <a:rPr lang="en-US" sz="1600" i="1" dirty="0"/>
              <a:t>Financial_Health_Score = (Profit_Margin * 0.5) + ((1 - Debt_Ratio) * 0.3) + ((</a:t>
            </a:r>
            <a:r>
              <a:rPr lang="en-US" sz="1600" i="1" dirty="0" err="1"/>
              <a:t>Net_Profit</a:t>
            </a:r>
            <a:r>
              <a:rPr lang="en-US" sz="1600" i="1" dirty="0"/>
              <a:t> / </a:t>
            </a:r>
            <a:r>
              <a:rPr lang="en-US" sz="1600" i="1" dirty="0" err="1"/>
              <a:t>Total_Assets</a:t>
            </a:r>
            <a:r>
              <a:rPr lang="en-US" sz="1600" i="1" dirty="0"/>
              <a:t>) * 0.2)</a:t>
            </a:r>
          </a:p>
          <a:p>
            <a:pPr marL="0" indent="0">
              <a:buNone/>
            </a:pPr>
            <a:endParaRPr lang="en-US" sz="1600" i="1" dirty="0"/>
          </a:p>
          <a:p>
            <a:pPr marL="0" indent="0">
              <a:buNone/>
            </a:pPr>
            <a:r>
              <a:rPr lang="en-US" sz="1600" b="1" dirty="0"/>
              <a:t>Why This Logic?</a:t>
            </a:r>
          </a:p>
          <a:p>
            <a:r>
              <a:rPr lang="en-US" sz="1600" dirty="0"/>
              <a:t>This formula combines profitability, debt risk, and asset efficiency to measure overall company financial strength and improve financial risk prediction accuracy.</a:t>
            </a:r>
          </a:p>
          <a:p>
            <a:pPr marL="0" indent="0">
              <a:buNone/>
            </a:pPr>
            <a:endParaRPr lang="en-US" sz="1600" i="1" dirty="0"/>
          </a:p>
          <a:p>
            <a:pPr marL="0" indent="0">
              <a:buNone/>
            </a:pPr>
            <a:r>
              <a:rPr lang="en-US" sz="1600" b="1" dirty="0"/>
              <a:t>Recommendation System</a:t>
            </a:r>
          </a:p>
          <a:p>
            <a:r>
              <a:rPr lang="en-US" sz="1600" dirty="0"/>
              <a:t>Generated automated business recommendations based on financial risk, debt exposure, and company profitability conditions.</a:t>
            </a:r>
          </a:p>
        </p:txBody>
      </p:sp>
    </p:spTree>
    <p:extLst>
      <p:ext uri="{BB962C8B-B14F-4D97-AF65-F5344CB8AC3E}">
        <p14:creationId xmlns:p14="http://schemas.microsoft.com/office/powerpoint/2010/main" val="100801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3C4ED-F0E8-8D3F-F0A8-9665B1492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19432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+mn-lt"/>
              </a:rPr>
              <a:t>Model Training &amp; Conclusion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46B2-E10F-EEAB-F840-ADB62B2BF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354" y="894735"/>
            <a:ext cx="10515600" cy="559386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/>
              <a:t>Machine Learning Models Used</a:t>
            </a:r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r>
              <a:rPr lang="en-US" sz="1600" b="1" dirty="0"/>
              <a:t>Key Takeaways</a:t>
            </a:r>
          </a:p>
          <a:p>
            <a:r>
              <a:rPr lang="en-US" sz="1600" dirty="0"/>
              <a:t>Built an end-to-end finance AI pipeline </a:t>
            </a:r>
          </a:p>
          <a:p>
            <a:r>
              <a:rPr lang="en-US" sz="1600" dirty="0"/>
              <a:t>Performed financial risk prediction using ML </a:t>
            </a:r>
          </a:p>
          <a:p>
            <a:r>
              <a:rPr lang="en-US" sz="1600" dirty="0"/>
              <a:t>Created explainable AI recommendations </a:t>
            </a:r>
          </a:p>
          <a:p>
            <a:r>
              <a:rPr lang="en-US" sz="1600" dirty="0"/>
              <a:t>Developed financial health scoring system </a:t>
            </a:r>
          </a:p>
          <a:p>
            <a:r>
              <a:rPr lang="en-US" sz="1600" dirty="0"/>
              <a:t>Applied real-world stock market analytics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Conclusion</a:t>
            </a:r>
          </a:p>
          <a:p>
            <a:r>
              <a:rPr lang="en-US" sz="1600" dirty="0"/>
              <a:t>Successfully developed an AI-powered financial intelligence system that predicts company financial risk levels, analyzes financial health conditions, and generates intelligent recommendations using real-world Indian stock market financial data.</a:t>
            </a:r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endParaRPr lang="en-US" sz="4000" b="1" dirty="0"/>
          </a:p>
          <a:p>
            <a:endParaRPr lang="en-US" sz="1600" dirty="0"/>
          </a:p>
          <a:p>
            <a:pPr marL="0" indent="0">
              <a:buNone/>
            </a:pPr>
            <a:endParaRPr lang="en-US" sz="1800" b="1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FF599D3-E763-5375-B988-404C1D7950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2236118"/>
              </p:ext>
            </p:extLst>
          </p:nvPr>
        </p:nvGraphicFramePr>
        <p:xfrm>
          <a:off x="3309783" y="1422236"/>
          <a:ext cx="5279924" cy="1447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39962">
                  <a:extLst>
                    <a:ext uri="{9D8B030D-6E8A-4147-A177-3AD203B41FA5}">
                      <a16:colId xmlns:a16="http://schemas.microsoft.com/office/drawing/2014/main" val="3204683009"/>
                    </a:ext>
                  </a:extLst>
                </a:gridCol>
                <a:gridCol w="2639962">
                  <a:extLst>
                    <a:ext uri="{9D8B030D-6E8A-4147-A177-3AD203B41FA5}">
                      <a16:colId xmlns:a16="http://schemas.microsoft.com/office/drawing/2014/main" val="4064544712"/>
                    </a:ext>
                  </a:extLst>
                </a:gridCol>
              </a:tblGrid>
              <a:tr h="294093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Accuracy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3725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Logistic Regression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4622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Gradient Boosting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9419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Random Forest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98.7%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0353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816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358</Words>
  <Application>Microsoft Office PowerPoint</Application>
  <PresentationFormat>Widescreen</PresentationFormat>
  <Paragraphs>67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Courier New</vt:lpstr>
      <vt:lpstr>Office Theme</vt:lpstr>
      <vt:lpstr>AI-Powered Financial Health &amp; Risk Prediction System</vt:lpstr>
      <vt:lpstr>Data Engineering &amp; Feature Engineering</vt:lpstr>
      <vt:lpstr>Financial Logic &amp; AI Intelligence</vt:lpstr>
      <vt:lpstr>Model Training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senthuran6370@outlook.com</dc:creator>
  <cp:lastModifiedBy>senthuran6370@outlook.com</cp:lastModifiedBy>
  <cp:revision>1</cp:revision>
  <dcterms:created xsi:type="dcterms:W3CDTF">2026-05-18T13:53:47Z</dcterms:created>
  <dcterms:modified xsi:type="dcterms:W3CDTF">2026-05-24T06:06:06Z</dcterms:modified>
</cp:coreProperties>
</file>